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Times New Roman MT Bold" charset="1" panose="02030802070405020303"/>
      <p:regular r:id="rId25"/>
    </p:embeddedFont>
    <p:embeddedFont>
      <p:font typeface="Times New Roman MT" charset="1" panose="02030502070405020303"/>
      <p:regular r:id="rId26"/>
    </p:embeddedFont>
    <p:embeddedFont>
      <p:font typeface="Roca Two Bold" charset="1" panose="00000800000000000000"/>
      <p:regular r:id="rId27"/>
    </p:embeddedFont>
    <p:embeddedFont>
      <p:font typeface="Canva Sans Bold" charset="1" panose="020B0803030501040103"/>
      <p:regular r:id="rId28"/>
    </p:embeddedFont>
    <p:embeddedFont>
      <p:font typeface="Canva Sans" charset="1" panose="020B0503030501040103"/>
      <p:regular r:id="rId29"/>
    </p:embeddedFont>
    <p:embeddedFont>
      <p:font typeface="Times New Roman MT Bold Italics" charset="1" panose="02030802070405090303"/>
      <p:regular r:id="rId30"/>
    </p:embeddedFont>
    <p:embeddedFont>
      <p:font typeface="Times New Roman Bold" charset="1" panose="02020803070505020304"/>
      <p:regular r:id="rId31"/>
    </p:embeddedFont>
    <p:embeddedFont>
      <p:font typeface="Times New Roman" charset="1" panose="02020603050405020304"/>
      <p:regular r:id="rId32"/>
    </p:embeddedFont>
    <p:embeddedFont>
      <p:font typeface="Beautifully Delicious Script Bold" charset="1" panose="000008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981926" cy="10287000"/>
          </a:xfrm>
          <a:custGeom>
            <a:avLst/>
            <a:gdLst/>
            <a:ahLst/>
            <a:cxnLst/>
            <a:rect r="r" b="b" t="t" l="l"/>
            <a:pathLst>
              <a:path h="10287000" w="3981926">
                <a:moveTo>
                  <a:pt x="0" y="0"/>
                </a:moveTo>
                <a:lnTo>
                  <a:pt x="3981926" y="0"/>
                </a:lnTo>
                <a:lnTo>
                  <a:pt x="39819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99058">
            <a:off x="11580599" y="-475280"/>
            <a:ext cx="10415786" cy="12060384"/>
          </a:xfrm>
          <a:custGeom>
            <a:avLst/>
            <a:gdLst/>
            <a:ahLst/>
            <a:cxnLst/>
            <a:rect r="r" b="b" t="t" l="l"/>
            <a:pathLst>
              <a:path h="12060384" w="10415786">
                <a:moveTo>
                  <a:pt x="0" y="0"/>
                </a:moveTo>
                <a:lnTo>
                  <a:pt x="10415786" y="0"/>
                </a:lnTo>
                <a:lnTo>
                  <a:pt x="10415786" y="12060384"/>
                </a:lnTo>
                <a:lnTo>
                  <a:pt x="0" y="120603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52562" y="2817495"/>
            <a:ext cx="11582877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b="true" sz="51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NATURAL LANGUAGE PROCESSING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89797" y="3982553"/>
            <a:ext cx="3114323" cy="81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1"/>
              </a:lnSpc>
            </a:pPr>
            <a:r>
              <a:rPr lang="en-US" sz="43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Assignment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47253" y="5431087"/>
            <a:ext cx="9297251" cy="2327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1"/>
              </a:lnSpc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Completed by:</a:t>
            </a:r>
          </a:p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Oshika Sharma (23FE10CSE00145)</a:t>
            </a:r>
          </a:p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Anweshs Singh (23FE10CSE00299)</a:t>
            </a:r>
          </a:p>
          <a:p>
            <a:pPr algn="l">
              <a:lnSpc>
                <a:spcPts val="4531"/>
              </a:lnSpc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Section: 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026157" y="-803855"/>
            <a:ext cx="10737604" cy="12433015"/>
          </a:xfrm>
          <a:custGeom>
            <a:avLst/>
            <a:gdLst/>
            <a:ahLst/>
            <a:cxnLst/>
            <a:rect r="r" b="b" t="t" l="l"/>
            <a:pathLst>
              <a:path h="12433015" w="10737604">
                <a:moveTo>
                  <a:pt x="0" y="0"/>
                </a:moveTo>
                <a:lnTo>
                  <a:pt x="10737604" y="0"/>
                </a:lnTo>
                <a:lnTo>
                  <a:pt x="10737604" y="12433015"/>
                </a:lnTo>
                <a:lnTo>
                  <a:pt x="0" y="12433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676245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239500" y="4782706"/>
            <a:ext cx="6019800" cy="2476500"/>
          </a:xfrm>
          <a:custGeom>
            <a:avLst/>
            <a:gdLst/>
            <a:ahLst/>
            <a:cxnLst/>
            <a:rect r="r" b="b" t="t" l="l"/>
            <a:pathLst>
              <a:path h="2476500" w="6019800">
                <a:moveTo>
                  <a:pt x="0" y="0"/>
                </a:moveTo>
                <a:lnTo>
                  <a:pt x="6019800" y="0"/>
                </a:lnTo>
                <a:lnTo>
                  <a:pt x="6019800" y="2476500"/>
                </a:lnTo>
                <a:lnTo>
                  <a:pt x="0" y="2476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62" t="-20863" r="-5603" b="-1533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2557371" y="756913"/>
            <a:ext cx="1400011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WORD EMBEDDING SIMILARITY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06998" y="-46408"/>
            <a:ext cx="798705" cy="11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2"/>
              </a:lnSpc>
            </a:pPr>
            <a:r>
              <a:rPr lang="en-US" sz="628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1422687"/>
            <a:ext cx="17638871" cy="101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How can machines mathematically compute similarities between concepts, identify categories, and solve word analogies?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How can we represent words numerically and measure how similar two words are?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024" y="2410112"/>
            <a:ext cx="11434866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615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Word Embeddings (words → vectors):</a:t>
            </a:r>
          </a:p>
          <a:p>
            <a:pPr algn="l">
              <a:lnSpc>
                <a:spcPts val="3051"/>
              </a:lnSpc>
              <a:spcBef>
                <a:spcPct val="0"/>
              </a:spcBef>
            </a:pPr>
            <a:r>
              <a:rPr lang="en-US" sz="217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Operate on distributional hypothesis: word used in similar contexts tend to have similar meanings.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024" y="3264187"/>
            <a:ext cx="10585103" cy="88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61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Word2Vec model (pre-trained model): </a:t>
            </a:r>
          </a:p>
          <a:p>
            <a:pPr algn="l">
              <a:lnSpc>
                <a:spcPts val="3053"/>
              </a:lnSpc>
              <a:spcBef>
                <a:spcPct val="0"/>
              </a:spcBef>
            </a:pPr>
            <a:r>
              <a:rPr lang="en-US" sz="218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Maps each word into a dense and continuous vector space (here, a 300 dimensional space).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024" y="4042644"/>
            <a:ext cx="12542639" cy="169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634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Cosine Similarity: </a:t>
            </a:r>
          </a:p>
          <a:p>
            <a:pPr algn="l">
              <a:lnSpc>
                <a:spcPts val="3213"/>
              </a:lnSpc>
            </a:pPr>
            <a:r>
              <a:rPr lang="en-US" sz="229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determine, how similar two words (v1 and v2) are (measure angle between their respective vectors):</a:t>
            </a:r>
          </a:p>
          <a:p>
            <a:pPr algn="l">
              <a:lnSpc>
                <a:spcPts val="3213"/>
              </a:lnSpc>
            </a:pPr>
            <a:r>
              <a:rPr lang="en-US" sz="2295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Cosine Similarity = v1 . v2 / |v1| |v2|     </a:t>
            </a:r>
          </a:p>
          <a:p>
            <a:pPr algn="l">
              <a:lnSpc>
                <a:spcPts val="3073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1024" y="5307878"/>
            <a:ext cx="10286533" cy="88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61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Dimensionality Reduction (PCA): </a:t>
            </a:r>
          </a:p>
          <a:p>
            <a:pPr algn="l">
              <a:lnSpc>
                <a:spcPts val="3053"/>
              </a:lnSpc>
              <a:spcBef>
                <a:spcPct val="0"/>
              </a:spcBef>
            </a:pPr>
            <a:r>
              <a:rPr lang="en-US" sz="218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plot word relationship on 2D scatter plot, 300 dimensions reduced to 2D using PCA.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024" y="6179981"/>
            <a:ext cx="6878479" cy="3078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3"/>
              </a:lnSpc>
            </a:pPr>
            <a:r>
              <a:rPr lang="en-US" sz="2181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WORKFLOW</a:t>
            </a:r>
          </a:p>
          <a:p>
            <a:pPr algn="l">
              <a:lnSpc>
                <a:spcPts val="3053"/>
              </a:lnSpc>
            </a:pPr>
            <a:r>
              <a:rPr lang="en-US" sz="218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Step 1: Load pretrained model.</a:t>
            </a:r>
          </a:p>
          <a:p>
            <a:pPr algn="l">
              <a:lnSpc>
                <a:spcPts val="3053"/>
              </a:lnSpc>
            </a:pPr>
            <a:r>
              <a:rPr lang="en-US" sz="218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Step 2: Similarity function</a:t>
            </a:r>
          </a:p>
          <a:p>
            <a:pPr algn="l">
              <a:lnSpc>
                <a:spcPts val="3053"/>
              </a:lnSpc>
            </a:pPr>
            <a:r>
              <a:rPr lang="en-US" sz="218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Step 3: Testing basic word pairs</a:t>
            </a:r>
          </a:p>
          <a:p>
            <a:pPr algn="l">
              <a:lnSpc>
                <a:spcPts val="3053"/>
              </a:lnSpc>
            </a:pPr>
            <a:r>
              <a:rPr lang="en-US" sz="218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Step 4: Category-based Analysis</a:t>
            </a:r>
          </a:p>
          <a:p>
            <a:pPr algn="l">
              <a:lnSpc>
                <a:spcPts val="3053"/>
              </a:lnSpc>
            </a:pPr>
            <a:r>
              <a:rPr lang="en-US" sz="218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Step 5: Vecctor Arithmetic (semantic search and analogies)</a:t>
            </a:r>
          </a:p>
          <a:p>
            <a:pPr algn="l">
              <a:lnSpc>
                <a:spcPts val="3053"/>
              </a:lnSpc>
            </a:pPr>
            <a:r>
              <a:rPr lang="en-US" sz="218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Step 6: Dimensionality Reduction and 2D plotting</a:t>
            </a:r>
          </a:p>
          <a:p>
            <a:pPr algn="l">
              <a:lnSpc>
                <a:spcPts val="305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104909" y="-873416"/>
            <a:ext cx="10737604" cy="12433015"/>
          </a:xfrm>
          <a:custGeom>
            <a:avLst/>
            <a:gdLst/>
            <a:ahLst/>
            <a:cxnLst/>
            <a:rect r="r" b="b" t="t" l="l"/>
            <a:pathLst>
              <a:path h="12433015" w="10737604">
                <a:moveTo>
                  <a:pt x="0" y="0"/>
                </a:moveTo>
                <a:lnTo>
                  <a:pt x="10737604" y="0"/>
                </a:lnTo>
                <a:lnTo>
                  <a:pt x="10737604" y="12433015"/>
                </a:lnTo>
                <a:lnTo>
                  <a:pt x="0" y="12433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3464" y="2390249"/>
            <a:ext cx="4209415" cy="2753251"/>
          </a:xfrm>
          <a:custGeom>
            <a:avLst/>
            <a:gdLst/>
            <a:ahLst/>
            <a:cxnLst/>
            <a:rect r="r" b="b" t="t" l="l"/>
            <a:pathLst>
              <a:path h="2753251" w="4209415">
                <a:moveTo>
                  <a:pt x="0" y="0"/>
                </a:moveTo>
                <a:lnTo>
                  <a:pt x="4209415" y="0"/>
                </a:lnTo>
                <a:lnTo>
                  <a:pt x="4209415" y="2753251"/>
                </a:lnTo>
                <a:lnTo>
                  <a:pt x="0" y="27532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2367347"/>
            <a:ext cx="4070671" cy="5037002"/>
          </a:xfrm>
          <a:custGeom>
            <a:avLst/>
            <a:gdLst/>
            <a:ahLst/>
            <a:cxnLst/>
            <a:rect r="r" b="b" t="t" l="l"/>
            <a:pathLst>
              <a:path h="5037002" w="4070671">
                <a:moveTo>
                  <a:pt x="0" y="0"/>
                </a:moveTo>
                <a:lnTo>
                  <a:pt x="4070671" y="0"/>
                </a:lnTo>
                <a:lnTo>
                  <a:pt x="4070671" y="5037002"/>
                </a:lnTo>
                <a:lnTo>
                  <a:pt x="0" y="50370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83319" y="2390249"/>
            <a:ext cx="2994714" cy="3297550"/>
          </a:xfrm>
          <a:custGeom>
            <a:avLst/>
            <a:gdLst/>
            <a:ahLst/>
            <a:cxnLst/>
            <a:rect r="r" b="b" t="t" l="l"/>
            <a:pathLst>
              <a:path h="3297550" w="2994714">
                <a:moveTo>
                  <a:pt x="0" y="0"/>
                </a:moveTo>
                <a:lnTo>
                  <a:pt x="2994713" y="0"/>
                </a:lnTo>
                <a:lnTo>
                  <a:pt x="2994713" y="3297550"/>
                </a:lnTo>
                <a:lnTo>
                  <a:pt x="0" y="32975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28582" y="5996630"/>
            <a:ext cx="3749450" cy="2452765"/>
          </a:xfrm>
          <a:custGeom>
            <a:avLst/>
            <a:gdLst/>
            <a:ahLst/>
            <a:cxnLst/>
            <a:rect r="r" b="b" t="t" l="l"/>
            <a:pathLst>
              <a:path h="2452765" w="3749450">
                <a:moveTo>
                  <a:pt x="0" y="0"/>
                </a:moveTo>
                <a:lnTo>
                  <a:pt x="3749450" y="0"/>
                </a:lnTo>
                <a:lnTo>
                  <a:pt x="3749450" y="2452765"/>
                </a:lnTo>
                <a:lnTo>
                  <a:pt x="0" y="24527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8607324" y="1768468"/>
            <a:ext cx="0" cy="722424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3883880" y="2390249"/>
            <a:ext cx="3089238" cy="2151434"/>
          </a:xfrm>
          <a:custGeom>
            <a:avLst/>
            <a:gdLst/>
            <a:ahLst/>
            <a:cxnLst/>
            <a:rect r="r" b="b" t="t" l="l"/>
            <a:pathLst>
              <a:path h="2151434" w="3089238">
                <a:moveTo>
                  <a:pt x="0" y="0"/>
                </a:moveTo>
                <a:lnTo>
                  <a:pt x="3089238" y="0"/>
                </a:lnTo>
                <a:lnTo>
                  <a:pt x="3089238" y="2151434"/>
                </a:lnTo>
                <a:lnTo>
                  <a:pt x="0" y="2151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2468880" y="1055998"/>
            <a:ext cx="1400011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KEY FINDINGS AND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3464" y="1720843"/>
            <a:ext cx="358556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Basic Similarity Testing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1559576"/>
            <a:ext cx="547604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Word Analogies (Vector Arithmetic)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331" y="5304991"/>
            <a:ext cx="1813917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Score:</a:t>
            </a: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 → related</a:t>
            </a: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 → unrelated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03846" y="7747249"/>
            <a:ext cx="2962513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Relationships encoded as</a:t>
            </a: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vectors.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104909" y="-873416"/>
            <a:ext cx="10737604" cy="12433015"/>
          </a:xfrm>
          <a:custGeom>
            <a:avLst/>
            <a:gdLst/>
            <a:ahLst/>
            <a:cxnLst/>
            <a:rect r="r" b="b" t="t" l="l"/>
            <a:pathLst>
              <a:path h="12433015" w="10737604">
                <a:moveTo>
                  <a:pt x="0" y="0"/>
                </a:moveTo>
                <a:lnTo>
                  <a:pt x="10737604" y="0"/>
                </a:lnTo>
                <a:lnTo>
                  <a:pt x="10737604" y="12433015"/>
                </a:lnTo>
                <a:lnTo>
                  <a:pt x="0" y="12433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62138" y="1664970"/>
            <a:ext cx="7315444" cy="5568630"/>
          </a:xfrm>
          <a:custGeom>
            <a:avLst/>
            <a:gdLst/>
            <a:ahLst/>
            <a:cxnLst/>
            <a:rect r="r" b="b" t="t" l="l"/>
            <a:pathLst>
              <a:path h="5568630" w="7315444">
                <a:moveTo>
                  <a:pt x="0" y="0"/>
                </a:moveTo>
                <a:lnTo>
                  <a:pt x="7315443" y="0"/>
                </a:lnTo>
                <a:lnTo>
                  <a:pt x="7315443" y="5568630"/>
                </a:lnTo>
                <a:lnTo>
                  <a:pt x="0" y="5568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8900" y="1726699"/>
            <a:ext cx="7307725" cy="5445171"/>
          </a:xfrm>
          <a:custGeom>
            <a:avLst/>
            <a:gdLst/>
            <a:ahLst/>
            <a:cxnLst/>
            <a:rect r="r" b="b" t="t" l="l"/>
            <a:pathLst>
              <a:path h="5445171" w="7307725">
                <a:moveTo>
                  <a:pt x="0" y="0"/>
                </a:moveTo>
                <a:lnTo>
                  <a:pt x="7307725" y="0"/>
                </a:lnTo>
                <a:lnTo>
                  <a:pt x="7307725" y="5445172"/>
                </a:lnTo>
                <a:lnTo>
                  <a:pt x="0" y="54451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4526290" y="952500"/>
            <a:ext cx="1400011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VISUALIZATIONS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2702" y="7417112"/>
            <a:ext cx="3772257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Similar words cluster together.</a:t>
            </a: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-eg. king, queen, prince are close</a:t>
            </a: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car, tree far apart</a:t>
            </a:r>
          </a:p>
          <a:p>
            <a:pPr algn="l">
              <a:lnSpc>
                <a:spcPts val="266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104909" y="-873416"/>
            <a:ext cx="10737604" cy="12433015"/>
          </a:xfrm>
          <a:custGeom>
            <a:avLst/>
            <a:gdLst/>
            <a:ahLst/>
            <a:cxnLst/>
            <a:rect r="r" b="b" t="t" l="l"/>
            <a:pathLst>
              <a:path h="12433015" w="10737604">
                <a:moveTo>
                  <a:pt x="0" y="0"/>
                </a:moveTo>
                <a:lnTo>
                  <a:pt x="10737604" y="0"/>
                </a:lnTo>
                <a:lnTo>
                  <a:pt x="10737604" y="12433015"/>
                </a:lnTo>
                <a:lnTo>
                  <a:pt x="0" y="12433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2468880" y="1055998"/>
            <a:ext cx="1400011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DISTRIBUTION PLOTS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106998" y="1873243"/>
            <a:ext cx="6791977" cy="5158168"/>
          </a:xfrm>
          <a:custGeom>
            <a:avLst/>
            <a:gdLst/>
            <a:ahLst/>
            <a:cxnLst/>
            <a:rect r="r" b="b" t="t" l="l"/>
            <a:pathLst>
              <a:path h="5158168" w="6791977">
                <a:moveTo>
                  <a:pt x="0" y="0"/>
                </a:moveTo>
                <a:lnTo>
                  <a:pt x="6791977" y="0"/>
                </a:lnTo>
                <a:lnTo>
                  <a:pt x="6791977" y="5158168"/>
                </a:lnTo>
                <a:lnTo>
                  <a:pt x="0" y="51581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3939" y="1873243"/>
            <a:ext cx="7999194" cy="5406684"/>
          </a:xfrm>
          <a:custGeom>
            <a:avLst/>
            <a:gdLst/>
            <a:ahLst/>
            <a:cxnLst/>
            <a:rect r="r" b="b" t="t" l="l"/>
            <a:pathLst>
              <a:path h="5406684" w="7999194">
                <a:moveTo>
                  <a:pt x="0" y="0"/>
                </a:moveTo>
                <a:lnTo>
                  <a:pt x="7999194" y="0"/>
                </a:lnTo>
                <a:lnTo>
                  <a:pt x="7999194" y="5406684"/>
                </a:lnTo>
                <a:lnTo>
                  <a:pt x="0" y="54066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97400" y="7520398"/>
            <a:ext cx="6304869" cy="131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029" indent="-273514" lvl="1">
              <a:lnSpc>
                <a:spcPts val="3547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Most similarities between 0.3- 0.7</a:t>
            </a:r>
          </a:p>
          <a:p>
            <a:pPr algn="l" marL="547029" indent="-273514" lvl="1">
              <a:lnSpc>
                <a:spcPts val="3547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i.e. Most words share some context</a:t>
            </a:r>
          </a:p>
          <a:p>
            <a:pPr algn="l" marL="547029" indent="-273514" lvl="1">
              <a:lnSpc>
                <a:spcPts val="3547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Completely unrelated words are rare.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104909" y="-873416"/>
            <a:ext cx="10737604" cy="12433015"/>
          </a:xfrm>
          <a:custGeom>
            <a:avLst/>
            <a:gdLst/>
            <a:ahLst/>
            <a:cxnLst/>
            <a:rect r="r" b="b" t="t" l="l"/>
            <a:pathLst>
              <a:path h="12433015" w="10737604">
                <a:moveTo>
                  <a:pt x="0" y="0"/>
                </a:moveTo>
                <a:lnTo>
                  <a:pt x="10737604" y="0"/>
                </a:lnTo>
                <a:lnTo>
                  <a:pt x="10737604" y="12433015"/>
                </a:lnTo>
                <a:lnTo>
                  <a:pt x="0" y="12433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9442" y="2061863"/>
            <a:ext cx="4488958" cy="7546222"/>
          </a:xfrm>
          <a:custGeom>
            <a:avLst/>
            <a:gdLst/>
            <a:ahLst/>
            <a:cxnLst/>
            <a:rect r="r" b="b" t="t" l="l"/>
            <a:pathLst>
              <a:path h="7546222" w="4488958">
                <a:moveTo>
                  <a:pt x="0" y="0"/>
                </a:moveTo>
                <a:lnTo>
                  <a:pt x="4488958" y="0"/>
                </a:lnTo>
                <a:lnTo>
                  <a:pt x="4488958" y="7546222"/>
                </a:lnTo>
                <a:lnTo>
                  <a:pt x="0" y="75462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4856113" y="1056637"/>
            <a:ext cx="1400011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TEST CASES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37535" y="1538959"/>
            <a:ext cx="10688122" cy="311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7"/>
              </a:lnSpc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captures multiple relationship types.</a:t>
            </a:r>
          </a:p>
          <a:p>
            <a:pPr algn="l">
              <a:lnSpc>
                <a:spcPts val="3547"/>
              </a:lnSpc>
            </a:pPr>
          </a:p>
          <a:p>
            <a:pPr algn="l">
              <a:lnSpc>
                <a:spcPts val="3547"/>
              </a:lnSpc>
            </a:pPr>
            <a:r>
              <a:rPr lang="en-US" sz="253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Interesting observations</a:t>
            </a: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547030" indent="-273515" lvl="1">
              <a:lnSpc>
                <a:spcPts val="3547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Numbers appear in similar context (1-3 → 0.8894)</a:t>
            </a:r>
          </a:p>
          <a:p>
            <a:pPr algn="l" marL="547030" indent="-273515" lvl="1">
              <a:lnSpc>
                <a:spcPts val="3547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Words2Vec treats  words individually; cannot understand phrases</a:t>
            </a:r>
          </a:p>
          <a:p>
            <a:pPr algn="l">
              <a:lnSpc>
                <a:spcPts val="3547"/>
              </a:lnSpc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(machine-learning → 0.058)</a:t>
            </a:r>
          </a:p>
          <a:p>
            <a:pPr algn="l">
              <a:lnSpc>
                <a:spcPts val="354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437535" y="4476502"/>
            <a:ext cx="6198870" cy="2669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7"/>
              </a:lnSpc>
            </a:pPr>
            <a:r>
              <a:rPr lang="en-US" sz="253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</a:t>
            </a:r>
          </a:p>
          <a:p>
            <a:pPr algn="l" marL="547030" indent="-273515" lvl="1">
              <a:lnSpc>
                <a:spcPts val="3547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Vocabulary limitations</a:t>
            </a:r>
          </a:p>
          <a:p>
            <a:pPr algn="l" marL="547030" indent="-273515" lvl="1">
              <a:lnSpc>
                <a:spcPts val="3547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Case sensitivity</a:t>
            </a:r>
          </a:p>
          <a:p>
            <a:pPr algn="l" marL="547030" indent="-273515" lvl="1">
              <a:lnSpc>
                <a:spcPts val="3547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phrase understanding</a:t>
            </a:r>
          </a:p>
          <a:p>
            <a:pPr algn="l" marL="547030" indent="-273515" lvl="1">
              <a:lnSpc>
                <a:spcPts val="3547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Context-based, not dictionary based</a:t>
            </a:r>
          </a:p>
          <a:p>
            <a:pPr algn="l">
              <a:lnSpc>
                <a:spcPts val="354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156300">
            <a:off x="12186685" y="-2133184"/>
            <a:ext cx="9373683" cy="10853738"/>
          </a:xfrm>
          <a:custGeom>
            <a:avLst/>
            <a:gdLst/>
            <a:ahLst/>
            <a:cxnLst/>
            <a:rect r="r" b="b" t="t" l="l"/>
            <a:pathLst>
              <a:path h="10853738" w="9373683">
                <a:moveTo>
                  <a:pt x="0" y="0"/>
                </a:moveTo>
                <a:lnTo>
                  <a:pt x="9373683" y="0"/>
                </a:lnTo>
                <a:lnTo>
                  <a:pt x="9373683" y="10853738"/>
                </a:lnTo>
                <a:lnTo>
                  <a:pt x="0" y="10853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89736">
            <a:off x="-2884107" y="7173059"/>
            <a:ext cx="7138119" cy="7138119"/>
          </a:xfrm>
          <a:custGeom>
            <a:avLst/>
            <a:gdLst/>
            <a:ahLst/>
            <a:cxnLst/>
            <a:rect r="r" b="b" t="t" l="l"/>
            <a:pathLst>
              <a:path h="7138119" w="7138119">
                <a:moveTo>
                  <a:pt x="0" y="0"/>
                </a:moveTo>
                <a:lnTo>
                  <a:pt x="7138119" y="0"/>
                </a:lnTo>
                <a:lnTo>
                  <a:pt x="7138119" y="7138120"/>
                </a:lnTo>
                <a:lnTo>
                  <a:pt x="0" y="7138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2147" y="2779728"/>
            <a:ext cx="7652691" cy="5299489"/>
          </a:xfrm>
          <a:custGeom>
            <a:avLst/>
            <a:gdLst/>
            <a:ahLst/>
            <a:cxnLst/>
            <a:rect r="r" b="b" t="t" l="l"/>
            <a:pathLst>
              <a:path h="5299489" w="7652691">
                <a:moveTo>
                  <a:pt x="0" y="0"/>
                </a:moveTo>
                <a:lnTo>
                  <a:pt x="7652691" y="0"/>
                </a:lnTo>
                <a:lnTo>
                  <a:pt x="7652691" y="5299489"/>
                </a:lnTo>
                <a:lnTo>
                  <a:pt x="0" y="52994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1212866"/>
            <a:ext cx="915572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NAMED ENTITY RECOGNITION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07053" y="409545"/>
            <a:ext cx="798595" cy="11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2"/>
              </a:lnSpc>
            </a:pPr>
            <a:r>
              <a:rPr lang="en-US" sz="628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69254" y="2665428"/>
            <a:ext cx="8074144" cy="152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brief overview of the task: Extracting Persons, Organizations, and Locations from a Microsoft/India news article using NLTK Library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69254" y="4658265"/>
            <a:ext cx="6730961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Step 1: Tokenization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Step 2: POS Tagging (Required before NER)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Step 3: Named Entity Chunking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393157">
            <a:off x="12186685" y="-2133184"/>
            <a:ext cx="9373683" cy="10853738"/>
          </a:xfrm>
          <a:custGeom>
            <a:avLst/>
            <a:gdLst/>
            <a:ahLst/>
            <a:cxnLst/>
            <a:rect r="r" b="b" t="t" l="l"/>
            <a:pathLst>
              <a:path h="10853738" w="9373683">
                <a:moveTo>
                  <a:pt x="0" y="0"/>
                </a:moveTo>
                <a:lnTo>
                  <a:pt x="9373683" y="0"/>
                </a:lnTo>
                <a:lnTo>
                  <a:pt x="9373683" y="10853738"/>
                </a:lnTo>
                <a:lnTo>
                  <a:pt x="0" y="10853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89736">
            <a:off x="-779584" y="7239427"/>
            <a:ext cx="7138119" cy="7138119"/>
          </a:xfrm>
          <a:custGeom>
            <a:avLst/>
            <a:gdLst/>
            <a:ahLst/>
            <a:cxnLst/>
            <a:rect r="r" b="b" t="t" l="l"/>
            <a:pathLst>
              <a:path h="7138119" w="7138119">
                <a:moveTo>
                  <a:pt x="0" y="0"/>
                </a:moveTo>
                <a:lnTo>
                  <a:pt x="7138120" y="0"/>
                </a:lnTo>
                <a:lnTo>
                  <a:pt x="7138120" y="7138120"/>
                </a:lnTo>
                <a:lnTo>
                  <a:pt x="0" y="7138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77835" y="2956543"/>
            <a:ext cx="14319828" cy="1145586"/>
          </a:xfrm>
          <a:custGeom>
            <a:avLst/>
            <a:gdLst/>
            <a:ahLst/>
            <a:cxnLst/>
            <a:rect r="r" b="b" t="t" l="l"/>
            <a:pathLst>
              <a:path h="1145586" w="14319828">
                <a:moveTo>
                  <a:pt x="0" y="0"/>
                </a:moveTo>
                <a:lnTo>
                  <a:pt x="14319828" y="0"/>
                </a:lnTo>
                <a:lnTo>
                  <a:pt x="14319828" y="1145587"/>
                </a:lnTo>
                <a:lnTo>
                  <a:pt x="0" y="11455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7835" y="4354793"/>
            <a:ext cx="14319828" cy="2309072"/>
          </a:xfrm>
          <a:custGeom>
            <a:avLst/>
            <a:gdLst/>
            <a:ahLst/>
            <a:cxnLst/>
            <a:rect r="r" b="b" t="t" l="l"/>
            <a:pathLst>
              <a:path h="2309072" w="14319828">
                <a:moveTo>
                  <a:pt x="0" y="0"/>
                </a:moveTo>
                <a:lnTo>
                  <a:pt x="14319828" y="0"/>
                </a:lnTo>
                <a:lnTo>
                  <a:pt x="14319828" y="2309072"/>
                </a:lnTo>
                <a:lnTo>
                  <a:pt x="0" y="23090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6270" y="1511951"/>
            <a:ext cx="4626412" cy="86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97"/>
              </a:lnSpc>
            </a:pPr>
            <a:r>
              <a:rPr lang="en-US" b="true" sz="5070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BASE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7835" y="7130590"/>
            <a:ext cx="14319828" cy="158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23"/>
              </a:lnSpc>
              <a:spcBef>
                <a:spcPct val="0"/>
              </a:spcBef>
            </a:pPr>
            <a:r>
              <a:rPr lang="en-US" sz="294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Note: NLTK was designed for teaching and research, not for high-accuracy production apps. Its NER module hasn't been significantly updated in years, which is why it thinks "Google" is a Person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393157">
            <a:off x="12186685" y="-2133184"/>
            <a:ext cx="9373683" cy="10853738"/>
          </a:xfrm>
          <a:custGeom>
            <a:avLst/>
            <a:gdLst/>
            <a:ahLst/>
            <a:cxnLst/>
            <a:rect r="r" b="b" t="t" l="l"/>
            <a:pathLst>
              <a:path h="10853738" w="9373683">
                <a:moveTo>
                  <a:pt x="0" y="0"/>
                </a:moveTo>
                <a:lnTo>
                  <a:pt x="9373683" y="0"/>
                </a:lnTo>
                <a:lnTo>
                  <a:pt x="9373683" y="10853738"/>
                </a:lnTo>
                <a:lnTo>
                  <a:pt x="0" y="10853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89736">
            <a:off x="-779584" y="7239427"/>
            <a:ext cx="7138119" cy="7138119"/>
          </a:xfrm>
          <a:custGeom>
            <a:avLst/>
            <a:gdLst/>
            <a:ahLst/>
            <a:cxnLst/>
            <a:rect r="r" b="b" t="t" l="l"/>
            <a:pathLst>
              <a:path h="7138119" w="7138119">
                <a:moveTo>
                  <a:pt x="0" y="0"/>
                </a:moveTo>
                <a:lnTo>
                  <a:pt x="7138120" y="0"/>
                </a:lnTo>
                <a:lnTo>
                  <a:pt x="7138120" y="7138120"/>
                </a:lnTo>
                <a:lnTo>
                  <a:pt x="0" y="7138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6982" y="6561693"/>
            <a:ext cx="10584930" cy="952218"/>
          </a:xfrm>
          <a:custGeom>
            <a:avLst/>
            <a:gdLst/>
            <a:ahLst/>
            <a:cxnLst/>
            <a:rect r="r" b="b" t="t" l="l"/>
            <a:pathLst>
              <a:path h="952218" w="10584930">
                <a:moveTo>
                  <a:pt x="0" y="0"/>
                </a:moveTo>
                <a:lnTo>
                  <a:pt x="10584929" y="0"/>
                </a:lnTo>
                <a:lnTo>
                  <a:pt x="10584929" y="952218"/>
                </a:lnTo>
                <a:lnTo>
                  <a:pt x="0" y="9522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244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36078" y="2772829"/>
            <a:ext cx="6409468" cy="7249590"/>
          </a:xfrm>
          <a:custGeom>
            <a:avLst/>
            <a:gdLst/>
            <a:ahLst/>
            <a:cxnLst/>
            <a:rect r="r" b="b" t="t" l="l"/>
            <a:pathLst>
              <a:path h="7249590" w="6409468">
                <a:moveTo>
                  <a:pt x="0" y="0"/>
                </a:moveTo>
                <a:lnTo>
                  <a:pt x="6409468" y="0"/>
                </a:lnTo>
                <a:lnTo>
                  <a:pt x="6409468" y="7249590"/>
                </a:lnTo>
                <a:lnTo>
                  <a:pt x="0" y="7249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6982" y="1381970"/>
            <a:ext cx="7926891" cy="86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97"/>
              </a:lnSpc>
            </a:pPr>
            <a:r>
              <a:rPr lang="en-US" b="true" sz="5070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APPLIED REGEX RULES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982" y="2678696"/>
            <a:ext cx="10584930" cy="256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8"/>
              </a:lnSpc>
              <a:spcBef>
                <a:spcPct val="0"/>
              </a:spcBef>
            </a:pPr>
            <a:r>
              <a:rPr lang="en-US" sz="287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Regular Expressions are powerful text patterns used to find, match, and manipulate specific sequences of characters within larger texts. In our task, we defined a 'grammar' using regex to instruct NLTK on how to recognize patterns for Persons, Organizations, and Titles based on their part-of-speech tags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6982" y="8831615"/>
            <a:ext cx="10584930" cy="1190805"/>
          </a:xfrm>
          <a:custGeom>
            <a:avLst/>
            <a:gdLst/>
            <a:ahLst/>
            <a:cxnLst/>
            <a:rect r="r" b="b" t="t" l="l"/>
            <a:pathLst>
              <a:path h="1190805" w="10584930">
                <a:moveTo>
                  <a:pt x="0" y="0"/>
                </a:moveTo>
                <a:lnTo>
                  <a:pt x="10584929" y="0"/>
                </a:lnTo>
                <a:lnTo>
                  <a:pt x="10584929" y="1190804"/>
                </a:lnTo>
                <a:lnTo>
                  <a:pt x="0" y="1190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982" y="5851598"/>
            <a:ext cx="10584930" cy="54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8"/>
              </a:lnSpc>
              <a:spcBef>
                <a:spcPct val="0"/>
              </a:spcBef>
            </a:pPr>
            <a:r>
              <a:rPr lang="en-US" sz="287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982" y="8142409"/>
            <a:ext cx="10584930" cy="54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8"/>
              </a:lnSpc>
              <a:spcBef>
                <a:spcPct val="0"/>
              </a:spcBef>
            </a:pPr>
            <a:r>
              <a:rPr lang="en-US" sz="287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Tree Visualisation: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393157">
            <a:off x="12186685" y="-2133184"/>
            <a:ext cx="9373683" cy="10853738"/>
          </a:xfrm>
          <a:custGeom>
            <a:avLst/>
            <a:gdLst/>
            <a:ahLst/>
            <a:cxnLst/>
            <a:rect r="r" b="b" t="t" l="l"/>
            <a:pathLst>
              <a:path h="10853738" w="9373683">
                <a:moveTo>
                  <a:pt x="0" y="0"/>
                </a:moveTo>
                <a:lnTo>
                  <a:pt x="9373683" y="0"/>
                </a:lnTo>
                <a:lnTo>
                  <a:pt x="9373683" y="10853738"/>
                </a:lnTo>
                <a:lnTo>
                  <a:pt x="0" y="10853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479569">
            <a:off x="-875232" y="7416409"/>
            <a:ext cx="7138119" cy="7138119"/>
          </a:xfrm>
          <a:custGeom>
            <a:avLst/>
            <a:gdLst/>
            <a:ahLst/>
            <a:cxnLst/>
            <a:rect r="r" b="b" t="t" l="l"/>
            <a:pathLst>
              <a:path h="7138119" w="7138119">
                <a:moveTo>
                  <a:pt x="0" y="0"/>
                </a:moveTo>
                <a:lnTo>
                  <a:pt x="7138119" y="0"/>
                </a:lnTo>
                <a:lnTo>
                  <a:pt x="7138119" y="7138119"/>
                </a:lnTo>
                <a:lnTo>
                  <a:pt x="0" y="71381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32328" y="3505808"/>
            <a:ext cx="6123832" cy="4940614"/>
          </a:xfrm>
          <a:custGeom>
            <a:avLst/>
            <a:gdLst/>
            <a:ahLst/>
            <a:cxnLst/>
            <a:rect r="r" b="b" t="t" l="l"/>
            <a:pathLst>
              <a:path h="4940614" w="6123832">
                <a:moveTo>
                  <a:pt x="0" y="0"/>
                </a:moveTo>
                <a:lnTo>
                  <a:pt x="6123832" y="0"/>
                </a:lnTo>
                <a:lnTo>
                  <a:pt x="6123832" y="4940613"/>
                </a:lnTo>
                <a:lnTo>
                  <a:pt x="0" y="49406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7932" y="2908804"/>
            <a:ext cx="11301259" cy="5537617"/>
          </a:xfrm>
          <a:custGeom>
            <a:avLst/>
            <a:gdLst/>
            <a:ahLst/>
            <a:cxnLst/>
            <a:rect r="r" b="b" t="t" l="l"/>
            <a:pathLst>
              <a:path h="5537617" w="11301259">
                <a:moveTo>
                  <a:pt x="0" y="0"/>
                </a:moveTo>
                <a:lnTo>
                  <a:pt x="11301258" y="0"/>
                </a:lnTo>
                <a:lnTo>
                  <a:pt x="11301258" y="5537617"/>
                </a:lnTo>
                <a:lnTo>
                  <a:pt x="0" y="55376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932" y="1381970"/>
            <a:ext cx="5593969" cy="86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97"/>
              </a:lnSpc>
            </a:pPr>
            <a:r>
              <a:rPr lang="en-US" b="true" sz="5070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VISUALISATION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27" y="8574135"/>
            <a:ext cx="6116146" cy="54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8"/>
              </a:lnSpc>
              <a:spcBef>
                <a:spcPct val="0"/>
              </a:spcBef>
            </a:pPr>
            <a:r>
              <a:rPr lang="en-US" sz="287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Using DisplaCy  SpaCy Builtin Tool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70760" y="8574135"/>
            <a:ext cx="3988540" cy="54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8"/>
              </a:lnSpc>
              <a:spcBef>
                <a:spcPct val="0"/>
              </a:spcBef>
            </a:pPr>
            <a:r>
              <a:rPr lang="en-US" sz="287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Distribution Bar Graph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156300">
            <a:off x="12186685" y="-2133184"/>
            <a:ext cx="9373683" cy="10853738"/>
          </a:xfrm>
          <a:custGeom>
            <a:avLst/>
            <a:gdLst/>
            <a:ahLst/>
            <a:cxnLst/>
            <a:rect r="r" b="b" t="t" l="l"/>
            <a:pathLst>
              <a:path h="10853738" w="9373683">
                <a:moveTo>
                  <a:pt x="0" y="0"/>
                </a:moveTo>
                <a:lnTo>
                  <a:pt x="9373683" y="0"/>
                </a:lnTo>
                <a:lnTo>
                  <a:pt x="9373683" y="10853738"/>
                </a:lnTo>
                <a:lnTo>
                  <a:pt x="0" y="10853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89736">
            <a:off x="-2884107" y="7173059"/>
            <a:ext cx="7138119" cy="7138119"/>
          </a:xfrm>
          <a:custGeom>
            <a:avLst/>
            <a:gdLst/>
            <a:ahLst/>
            <a:cxnLst/>
            <a:rect r="r" b="b" t="t" l="l"/>
            <a:pathLst>
              <a:path h="7138119" w="7138119">
                <a:moveTo>
                  <a:pt x="0" y="0"/>
                </a:moveTo>
                <a:lnTo>
                  <a:pt x="7138119" y="0"/>
                </a:lnTo>
                <a:lnTo>
                  <a:pt x="7138119" y="7138120"/>
                </a:lnTo>
                <a:lnTo>
                  <a:pt x="0" y="7138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6523" y="4065144"/>
            <a:ext cx="6407197" cy="5453375"/>
          </a:xfrm>
          <a:custGeom>
            <a:avLst/>
            <a:gdLst/>
            <a:ahLst/>
            <a:cxnLst/>
            <a:rect r="r" b="b" t="t" l="l"/>
            <a:pathLst>
              <a:path h="5453375" w="6407197">
                <a:moveTo>
                  <a:pt x="0" y="0"/>
                </a:moveTo>
                <a:lnTo>
                  <a:pt x="6407197" y="0"/>
                </a:lnTo>
                <a:lnTo>
                  <a:pt x="6407197" y="5453375"/>
                </a:lnTo>
                <a:lnTo>
                  <a:pt x="0" y="54533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6119" y="1237168"/>
            <a:ext cx="14542953" cy="49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3"/>
              </a:lnSpc>
            </a:pPr>
            <a:r>
              <a:rPr lang="en-US" sz="2888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HYBRID CHATBOT AND ASPECT-BASED SENTIMENT ANALYSIS ARCHITECTURE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6119" y="2314423"/>
            <a:ext cx="11253406" cy="147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5266" indent="-292633" lvl="1">
              <a:lnSpc>
                <a:spcPts val="3795"/>
              </a:lnSpc>
              <a:buFont typeface="Arial"/>
              <a:buChar char="•"/>
            </a:pPr>
            <a:r>
              <a:rPr lang="en-US" sz="271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hybrid architecture that acts as single entry point for user text.</a:t>
            </a:r>
          </a:p>
          <a:p>
            <a:pPr algn="l" marL="585266" indent="-292633" lvl="1">
              <a:lnSpc>
                <a:spcPts val="3795"/>
              </a:lnSpc>
              <a:buFont typeface="Arial"/>
              <a:buChar char="•"/>
            </a:pPr>
            <a:r>
              <a:rPr lang="en-US" sz="271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 routes queries to chatbot and ABSA module as required, and handles both conversational intents and complex sentiment reviews.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6119" y="1630528"/>
            <a:ext cx="8516303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Conversational AI and Opinion Mining for Product Reviews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55755" y="7474345"/>
            <a:ext cx="9385931" cy="178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1"/>
              </a:lnSpc>
            </a:pPr>
            <a:r>
              <a:rPr lang="en-US" sz="25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Let’s talk about each module in detail.</a:t>
            </a:r>
          </a:p>
          <a:p>
            <a:pPr algn="l" marL="543109" indent="-271555" lvl="1">
              <a:lnSpc>
                <a:spcPts val="3521"/>
              </a:lnSpc>
              <a:buFont typeface="Arial"/>
              <a:buChar char="•"/>
            </a:pPr>
            <a:r>
              <a:rPr lang="en-US" sz="25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Sentiment Analysis &amp; Aspect-Based Sentiment Analysis (ABSA)- </a:t>
            </a:r>
            <a:r>
              <a:rPr lang="en-US" b="true" sz="2515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Anwesha Singh</a:t>
            </a:r>
          </a:p>
          <a:p>
            <a:pPr algn="l" marL="543109" indent="-271555" lvl="1">
              <a:lnSpc>
                <a:spcPts val="3521"/>
              </a:lnSpc>
              <a:buFont typeface="Arial"/>
              <a:buChar char="•"/>
            </a:pPr>
            <a:r>
              <a:rPr lang="en-US" sz="25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Chatbot on NLP concepts and AI applications - </a:t>
            </a:r>
            <a:r>
              <a:rPr lang="en-US" b="true" sz="2515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Oshika Sharma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156300">
            <a:off x="12186685" y="-2133184"/>
            <a:ext cx="9373683" cy="10853738"/>
          </a:xfrm>
          <a:custGeom>
            <a:avLst/>
            <a:gdLst/>
            <a:ahLst/>
            <a:cxnLst/>
            <a:rect r="r" b="b" t="t" l="l"/>
            <a:pathLst>
              <a:path h="10853738" w="9373683">
                <a:moveTo>
                  <a:pt x="0" y="0"/>
                </a:moveTo>
                <a:lnTo>
                  <a:pt x="9373683" y="0"/>
                </a:lnTo>
                <a:lnTo>
                  <a:pt x="9373683" y="10853738"/>
                </a:lnTo>
                <a:lnTo>
                  <a:pt x="0" y="10853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89736">
            <a:off x="-2884107" y="7173059"/>
            <a:ext cx="7138119" cy="7138119"/>
          </a:xfrm>
          <a:custGeom>
            <a:avLst/>
            <a:gdLst/>
            <a:ahLst/>
            <a:cxnLst/>
            <a:rect r="r" b="b" t="t" l="l"/>
            <a:pathLst>
              <a:path h="7138119" w="7138119">
                <a:moveTo>
                  <a:pt x="0" y="0"/>
                </a:moveTo>
                <a:lnTo>
                  <a:pt x="7138119" y="0"/>
                </a:lnTo>
                <a:lnTo>
                  <a:pt x="7138119" y="7138120"/>
                </a:lnTo>
                <a:lnTo>
                  <a:pt x="0" y="7138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09293" y="2660222"/>
            <a:ext cx="5332171" cy="6158657"/>
          </a:xfrm>
          <a:custGeom>
            <a:avLst/>
            <a:gdLst/>
            <a:ahLst/>
            <a:cxnLst/>
            <a:rect r="r" b="b" t="t" l="l"/>
            <a:pathLst>
              <a:path h="6158657" w="5332171">
                <a:moveTo>
                  <a:pt x="0" y="0"/>
                </a:moveTo>
                <a:lnTo>
                  <a:pt x="5332170" y="0"/>
                </a:lnTo>
                <a:lnTo>
                  <a:pt x="5332170" y="6158657"/>
                </a:lnTo>
                <a:lnTo>
                  <a:pt x="0" y="61586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1336451"/>
            <a:ext cx="15243963" cy="98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9"/>
              </a:lnSpc>
            </a:pPr>
            <a:r>
              <a:rPr lang="en-US" b="true" sz="2842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SECTION 1: SENTIMENT ANALYSIS &amp; ASPECT-BASED SENTIMENT ANALYSIS (ABSA)</a:t>
            </a:r>
          </a:p>
          <a:p>
            <a:pPr algn="ctr">
              <a:lnSpc>
                <a:spcPts val="39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107053" y="409545"/>
            <a:ext cx="798595" cy="11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2"/>
              </a:lnSpc>
            </a:pPr>
            <a:r>
              <a:rPr lang="en-US" sz="628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6837" y="1755561"/>
            <a:ext cx="9713635" cy="169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5925" indent="-247963" lvl="1">
              <a:lnSpc>
                <a:spcPts val="3215"/>
              </a:lnSpc>
              <a:buFont typeface="Arial"/>
              <a:buChar char="•"/>
            </a:pPr>
            <a:r>
              <a:rPr lang="en-US" sz="22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Part of Hybrid Chatbot System</a:t>
            </a:r>
          </a:p>
          <a:p>
            <a:pPr algn="l" marL="495925" indent="-247963" lvl="1">
              <a:lnSpc>
                <a:spcPts val="3215"/>
              </a:lnSpc>
              <a:buFont typeface="Arial"/>
              <a:buChar char="•"/>
            </a:pPr>
            <a:r>
              <a:rPr lang="en-US" sz="22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NLP-Based Opinion Mining</a:t>
            </a:r>
          </a:p>
          <a:p>
            <a:pPr algn="l" marL="495925" indent="-247963" lvl="1">
              <a:lnSpc>
                <a:spcPts val="3215"/>
              </a:lnSpc>
              <a:spcBef>
                <a:spcPct val="0"/>
              </a:spcBef>
              <a:buFont typeface="Arial"/>
              <a:buChar char="•"/>
            </a:pPr>
            <a:r>
              <a:rPr lang="en-US" sz="22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Focus: E-commerce Product Reviews</a:t>
            </a:r>
          </a:p>
          <a:p>
            <a:pPr algn="l">
              <a:lnSpc>
                <a:spcPts val="3601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6837" y="2986191"/>
            <a:ext cx="11702455" cy="275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264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Problem:</a:t>
            </a:r>
          </a:p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Fine grained opinions.</a:t>
            </a:r>
          </a:p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Mixed sentiments in same sentence.</a:t>
            </a:r>
          </a:p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Single label for entire text, ignores multiple opinions, and feature-specific feedback.</a:t>
            </a:r>
          </a:p>
          <a:p>
            <a:pPr algn="l">
              <a:lnSpc>
                <a:spcPts val="3569"/>
              </a:lnSpc>
            </a:pPr>
          </a:p>
          <a:p>
            <a:pPr algn="l">
              <a:lnSpc>
                <a:spcPts val="3569"/>
              </a:lnSpc>
              <a:spcBef>
                <a:spcPct val="0"/>
              </a:spcBef>
            </a:pPr>
            <a:r>
              <a:rPr lang="en-US" sz="25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Need </a:t>
            </a:r>
            <a:r>
              <a:rPr lang="en-US" b="true" sz="255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Aspect-Based Sentiment Analysis (ABSA)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6837" y="5977676"/>
            <a:ext cx="9713635" cy="308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264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Concepts to know:</a:t>
            </a:r>
          </a:p>
          <a:p>
            <a:pPr algn="l">
              <a:lnSpc>
                <a:spcPts val="3430"/>
              </a:lnSpc>
            </a:pPr>
            <a:r>
              <a:rPr lang="en-US" sz="245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Sentiment Analysis:</a:t>
            </a:r>
            <a:r>
              <a:rPr lang="en-US" sz="24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Technique to determine polarity/emotion of the text. Types: Document-level, Sentence-level, </a:t>
            </a:r>
            <a:r>
              <a:rPr lang="en-US" sz="245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Aspect-level (ABSA)</a:t>
            </a:r>
          </a:p>
          <a:p>
            <a:pPr algn="l">
              <a:lnSpc>
                <a:spcPts val="3430"/>
              </a:lnSpc>
            </a:pPr>
            <a:r>
              <a:rPr lang="en-US" sz="245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ABSA: </a:t>
            </a:r>
            <a:r>
              <a:rPr lang="en-US" sz="24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Sentiment for each aspect, more fine grained and accurate analysis. Works well for E-commerce review analysis, and Customer feedback monitoring</a:t>
            </a:r>
          </a:p>
          <a:p>
            <a:pPr algn="l">
              <a:lnSpc>
                <a:spcPts val="343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093025" y="2156777"/>
            <a:ext cx="5377855" cy="49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  <a:spcBef>
                <a:spcPct val="0"/>
              </a:spcBef>
            </a:pPr>
            <a:r>
              <a:rPr lang="en-US" sz="257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Input → Router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56300">
            <a:off x="12186685" y="-2133184"/>
            <a:ext cx="9373683" cy="10853738"/>
          </a:xfrm>
          <a:custGeom>
            <a:avLst/>
            <a:gdLst/>
            <a:ahLst/>
            <a:cxnLst/>
            <a:rect r="r" b="b" t="t" l="l"/>
            <a:pathLst>
              <a:path h="10853738" w="9373683">
                <a:moveTo>
                  <a:pt x="0" y="0"/>
                </a:moveTo>
                <a:lnTo>
                  <a:pt x="9373683" y="0"/>
                </a:lnTo>
                <a:lnTo>
                  <a:pt x="9373683" y="10853738"/>
                </a:lnTo>
                <a:lnTo>
                  <a:pt x="0" y="10853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889736">
            <a:off x="-2884107" y="7173059"/>
            <a:ext cx="7138119" cy="7138119"/>
          </a:xfrm>
          <a:custGeom>
            <a:avLst/>
            <a:gdLst/>
            <a:ahLst/>
            <a:cxnLst/>
            <a:rect r="r" b="b" t="t" l="l"/>
            <a:pathLst>
              <a:path h="7138119" w="7138119">
                <a:moveTo>
                  <a:pt x="0" y="0"/>
                </a:moveTo>
                <a:lnTo>
                  <a:pt x="7138119" y="0"/>
                </a:lnTo>
                <a:lnTo>
                  <a:pt x="7138119" y="7138120"/>
                </a:lnTo>
                <a:lnTo>
                  <a:pt x="0" y="7138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7180" y="557384"/>
            <a:ext cx="6980366" cy="468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  <a:spcBef>
                <a:spcPct val="0"/>
              </a:spcBef>
            </a:pPr>
            <a:r>
              <a:rPr lang="en-US" sz="24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Flipkart Product Review 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7180" y="1970071"/>
            <a:ext cx="4591203" cy="47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742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I. PREPROCESSING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60" y="2569485"/>
            <a:ext cx="6980366" cy="221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393" indent="-267196" lvl="1">
              <a:lnSpc>
                <a:spcPts val="3465"/>
              </a:lnSpc>
              <a:buAutoNum type="arabicPeriod" startAt="1"/>
            </a:pPr>
            <a:r>
              <a:rPr lang="en-US" sz="24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Lowercasing</a:t>
            </a:r>
          </a:p>
          <a:p>
            <a:pPr algn="l" marL="534393" indent="-267196" lvl="1">
              <a:lnSpc>
                <a:spcPts val="3465"/>
              </a:lnSpc>
              <a:buAutoNum type="arabicPeriod" startAt="1"/>
            </a:pPr>
            <a:r>
              <a:rPr lang="en-US" sz="24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Stopword Removal</a:t>
            </a:r>
          </a:p>
          <a:p>
            <a:pPr algn="l" marL="534393" indent="-267196" lvl="1">
              <a:lnSpc>
                <a:spcPts val="3465"/>
              </a:lnSpc>
              <a:buAutoNum type="arabicPeriod" startAt="1"/>
            </a:pPr>
            <a:r>
              <a:rPr lang="en-US" sz="24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Puctuation Removal</a:t>
            </a:r>
          </a:p>
          <a:p>
            <a:pPr algn="l" marL="534393" indent="-267196" lvl="1">
              <a:lnSpc>
                <a:spcPts val="3465"/>
              </a:lnSpc>
              <a:buAutoNum type="arabicPeriod" startAt="1"/>
            </a:pPr>
            <a:r>
              <a:rPr lang="en-US" sz="24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Lemmatization</a:t>
            </a:r>
          </a:p>
          <a:p>
            <a:pPr algn="l">
              <a:lnSpc>
                <a:spcPts val="3465"/>
              </a:lnSpc>
              <a:spcBef>
                <a:spcPct val="0"/>
              </a:spcBef>
            </a:pPr>
            <a:r>
              <a:rPr lang="en-US" sz="24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Reduces noise and dimensionality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160" y="5086350"/>
            <a:ext cx="6328563" cy="47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742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II. FEATURE EXTRACTION (TF-IDF)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88742" y="5830016"/>
            <a:ext cx="6980366" cy="266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393" indent="-267196" lvl="1">
              <a:lnSpc>
                <a:spcPts val="3465"/>
              </a:lnSpc>
              <a:buFont typeface="Arial"/>
              <a:buChar char="•"/>
            </a:pPr>
            <a:r>
              <a:rPr lang="en-US" sz="24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Text → Numerical Vectors</a:t>
            </a:r>
          </a:p>
          <a:p>
            <a:pPr algn="l" marL="534393" indent="-267196" lvl="1">
              <a:lnSpc>
                <a:spcPts val="3465"/>
              </a:lnSpc>
              <a:buFont typeface="Arial"/>
              <a:buChar char="•"/>
            </a:pPr>
            <a:r>
              <a:rPr lang="en-US" sz="24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TF : word frequency in document</a:t>
            </a:r>
          </a:p>
          <a:p>
            <a:pPr algn="l" marL="534393" indent="-267196" lvl="1">
              <a:lnSpc>
                <a:spcPts val="3465"/>
              </a:lnSpc>
              <a:buFont typeface="Arial"/>
              <a:buChar char="•"/>
            </a:pPr>
            <a:r>
              <a:rPr lang="en-US" sz="24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IDF : rarity of word across corpus (importance to rare nut meaningfull words</a:t>
            </a:r>
          </a:p>
          <a:p>
            <a:pPr algn="l" marL="534393" indent="-267196" lvl="1">
              <a:lnSpc>
                <a:spcPts val="3465"/>
              </a:lnSpc>
              <a:buFont typeface="Arial"/>
              <a:buChar char="•"/>
            </a:pPr>
            <a:r>
              <a:rPr lang="en-US" sz="24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TF-IDF = TF × IDF</a:t>
            </a:r>
          </a:p>
          <a:p>
            <a:pPr algn="l">
              <a:lnSpc>
                <a:spcPts val="3465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176260" y="2051757"/>
            <a:ext cx="7380123" cy="47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742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III. SENTIMENT CLASSIFICATION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76260" y="2814462"/>
            <a:ext cx="6980366" cy="90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used: </a:t>
            </a:r>
            <a:r>
              <a:rPr lang="en-US" sz="2475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Multinomial Naive Bayes</a:t>
            </a:r>
          </a:p>
          <a:p>
            <a:pPr algn="l">
              <a:lnSpc>
                <a:spcPts val="3465"/>
              </a:lnSpc>
              <a:spcBef>
                <a:spcPct val="0"/>
              </a:spcBef>
            </a:pPr>
            <a:r>
              <a:rPr lang="en-US" sz="24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Output: Positive/ Negative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76260" y="5086350"/>
            <a:ext cx="7380123" cy="47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742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IV. ABSA MODEL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93380" y="5830016"/>
            <a:ext cx="6980366" cy="178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393" indent="-267196" lvl="1">
              <a:lnSpc>
                <a:spcPts val="3465"/>
              </a:lnSpc>
              <a:buFont typeface="Arial"/>
              <a:buChar char="•"/>
            </a:pPr>
            <a:r>
              <a:rPr lang="en-US" sz="24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Custom rule-based system</a:t>
            </a:r>
          </a:p>
          <a:p>
            <a:pPr algn="l" marL="534393" indent="-267196" lvl="1">
              <a:lnSpc>
                <a:spcPts val="3465"/>
              </a:lnSpc>
              <a:buFont typeface="Arial"/>
              <a:buChar char="•"/>
            </a:pPr>
            <a:r>
              <a:rPr lang="en-US" sz="24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Instead of heavy Deep learning models, as they cause hallucinations and overfitting with small datasets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7180" y="179371"/>
            <a:ext cx="4591203" cy="47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742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DATASET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156300">
            <a:off x="12186685" y="-2133184"/>
            <a:ext cx="9373683" cy="10853738"/>
          </a:xfrm>
          <a:custGeom>
            <a:avLst/>
            <a:gdLst/>
            <a:ahLst/>
            <a:cxnLst/>
            <a:rect r="r" b="b" t="t" l="l"/>
            <a:pathLst>
              <a:path h="10853738" w="9373683">
                <a:moveTo>
                  <a:pt x="0" y="0"/>
                </a:moveTo>
                <a:lnTo>
                  <a:pt x="9373683" y="0"/>
                </a:lnTo>
                <a:lnTo>
                  <a:pt x="9373683" y="10853738"/>
                </a:lnTo>
                <a:lnTo>
                  <a:pt x="0" y="10853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89736">
            <a:off x="-2884107" y="7173059"/>
            <a:ext cx="7138119" cy="7138119"/>
          </a:xfrm>
          <a:custGeom>
            <a:avLst/>
            <a:gdLst/>
            <a:ahLst/>
            <a:cxnLst/>
            <a:rect r="r" b="b" t="t" l="l"/>
            <a:pathLst>
              <a:path h="7138119" w="7138119">
                <a:moveTo>
                  <a:pt x="0" y="0"/>
                </a:moveTo>
                <a:lnTo>
                  <a:pt x="7138119" y="0"/>
                </a:lnTo>
                <a:lnTo>
                  <a:pt x="7138119" y="7138120"/>
                </a:lnTo>
                <a:lnTo>
                  <a:pt x="0" y="7138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0276" y="1965288"/>
            <a:ext cx="5030495" cy="4558148"/>
          </a:xfrm>
          <a:custGeom>
            <a:avLst/>
            <a:gdLst/>
            <a:ahLst/>
            <a:cxnLst/>
            <a:rect r="r" b="b" t="t" l="l"/>
            <a:pathLst>
              <a:path h="4558148" w="5030495">
                <a:moveTo>
                  <a:pt x="0" y="0"/>
                </a:moveTo>
                <a:lnTo>
                  <a:pt x="5030494" y="0"/>
                </a:lnTo>
                <a:lnTo>
                  <a:pt x="5030494" y="4558148"/>
                </a:lnTo>
                <a:lnTo>
                  <a:pt x="0" y="45581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77844" y="1201196"/>
            <a:ext cx="6135171" cy="4338684"/>
          </a:xfrm>
          <a:custGeom>
            <a:avLst/>
            <a:gdLst/>
            <a:ahLst/>
            <a:cxnLst/>
            <a:rect r="r" b="b" t="t" l="l"/>
            <a:pathLst>
              <a:path h="4338684" w="6135171">
                <a:moveTo>
                  <a:pt x="0" y="0"/>
                </a:moveTo>
                <a:lnTo>
                  <a:pt x="6135171" y="0"/>
                </a:lnTo>
                <a:lnTo>
                  <a:pt x="6135171" y="4338684"/>
                </a:lnTo>
                <a:lnTo>
                  <a:pt x="0" y="43386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77844" y="5754629"/>
            <a:ext cx="6283792" cy="4558372"/>
          </a:xfrm>
          <a:custGeom>
            <a:avLst/>
            <a:gdLst/>
            <a:ahLst/>
            <a:cxnLst/>
            <a:rect r="r" b="b" t="t" l="l"/>
            <a:pathLst>
              <a:path h="4558372" w="6283792">
                <a:moveTo>
                  <a:pt x="0" y="0"/>
                </a:moveTo>
                <a:lnTo>
                  <a:pt x="6283792" y="0"/>
                </a:lnTo>
                <a:lnTo>
                  <a:pt x="6283792" y="4558372"/>
                </a:lnTo>
                <a:lnTo>
                  <a:pt x="0" y="45583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1153571"/>
            <a:ext cx="15243963" cy="48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sz="2842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OUTPUTS WITHOUT ABSA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0276" y="6599636"/>
            <a:ext cx="6980366" cy="468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  <a:spcBef>
                <a:spcPct val="0"/>
              </a:spcBef>
            </a:pPr>
            <a:r>
              <a:rPr lang="en-US" sz="24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Using Multinomial Naive-Bayes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156300">
            <a:off x="12186685" y="-2133184"/>
            <a:ext cx="9373683" cy="10853738"/>
          </a:xfrm>
          <a:custGeom>
            <a:avLst/>
            <a:gdLst/>
            <a:ahLst/>
            <a:cxnLst/>
            <a:rect r="r" b="b" t="t" l="l"/>
            <a:pathLst>
              <a:path h="10853738" w="9373683">
                <a:moveTo>
                  <a:pt x="0" y="0"/>
                </a:moveTo>
                <a:lnTo>
                  <a:pt x="9373683" y="0"/>
                </a:lnTo>
                <a:lnTo>
                  <a:pt x="9373683" y="10853738"/>
                </a:lnTo>
                <a:lnTo>
                  <a:pt x="0" y="10853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89736">
            <a:off x="-2884107" y="7173059"/>
            <a:ext cx="7138119" cy="7138119"/>
          </a:xfrm>
          <a:custGeom>
            <a:avLst/>
            <a:gdLst/>
            <a:ahLst/>
            <a:cxnLst/>
            <a:rect r="r" b="b" t="t" l="l"/>
            <a:pathLst>
              <a:path h="7138119" w="7138119">
                <a:moveTo>
                  <a:pt x="0" y="0"/>
                </a:moveTo>
                <a:lnTo>
                  <a:pt x="7138119" y="0"/>
                </a:lnTo>
                <a:lnTo>
                  <a:pt x="7138119" y="7138120"/>
                </a:lnTo>
                <a:lnTo>
                  <a:pt x="0" y="7138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9765" y="2138643"/>
            <a:ext cx="8480135" cy="833230"/>
          </a:xfrm>
          <a:custGeom>
            <a:avLst/>
            <a:gdLst/>
            <a:ahLst/>
            <a:cxnLst/>
            <a:rect r="r" b="b" t="t" l="l"/>
            <a:pathLst>
              <a:path h="833230" w="8480135">
                <a:moveTo>
                  <a:pt x="0" y="0"/>
                </a:moveTo>
                <a:lnTo>
                  <a:pt x="8480135" y="0"/>
                </a:lnTo>
                <a:lnTo>
                  <a:pt x="8480135" y="833231"/>
                </a:lnTo>
                <a:lnTo>
                  <a:pt x="0" y="8332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90982" y="4719895"/>
            <a:ext cx="10689885" cy="4311622"/>
          </a:xfrm>
          <a:custGeom>
            <a:avLst/>
            <a:gdLst/>
            <a:ahLst/>
            <a:cxnLst/>
            <a:rect r="r" b="b" t="t" l="l"/>
            <a:pathLst>
              <a:path h="4311622" w="10689885">
                <a:moveTo>
                  <a:pt x="0" y="0"/>
                </a:moveTo>
                <a:lnTo>
                  <a:pt x="10689885" y="0"/>
                </a:lnTo>
                <a:lnTo>
                  <a:pt x="10689885" y="4311622"/>
                </a:lnTo>
                <a:lnTo>
                  <a:pt x="0" y="43116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1153571"/>
            <a:ext cx="15243963" cy="98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sz="2842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 ASPECT-BASED SENTIMENT ANALYSIS (ABSA)</a:t>
            </a:r>
          </a:p>
          <a:p>
            <a:pPr algn="ctr">
              <a:lnSpc>
                <a:spcPts val="39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8257" y="1624928"/>
            <a:ext cx="4661575" cy="51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134" indent="-286067" lvl="1">
              <a:lnSpc>
                <a:spcPts val="3709"/>
              </a:lnSpc>
              <a:spcBef>
                <a:spcPct val="0"/>
              </a:spcBef>
              <a:buAutoNum type="arabicPeriod" startAt="1"/>
            </a:pPr>
            <a:r>
              <a:rPr lang="en-US" sz="264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Identify product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257" y="3179385"/>
            <a:ext cx="8901643" cy="191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134" indent="-286067" lvl="1">
              <a:lnSpc>
                <a:spcPts val="3709"/>
              </a:lnSpc>
              <a:buAutoNum type="arabicPeriod" startAt="1"/>
            </a:pPr>
            <a:r>
              <a:rPr lang="en-US" sz="264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Context Window Analysis</a:t>
            </a:r>
          </a:p>
          <a:p>
            <a:pPr algn="l" marL="572134" indent="-286067" lvl="1">
              <a:lnSpc>
                <a:spcPts val="3709"/>
              </a:lnSpc>
              <a:buFont typeface="Arial"/>
              <a:buChar char="•"/>
            </a:pPr>
            <a:r>
              <a:rPr lang="en-US" sz="264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Window size = ±2 words</a:t>
            </a:r>
          </a:p>
          <a:p>
            <a:pPr algn="l" marL="572134" indent="-286067" lvl="1">
              <a:lnSpc>
                <a:spcPts val="3709"/>
              </a:lnSpc>
              <a:buFont typeface="Arial"/>
              <a:buChar char="•"/>
            </a:pPr>
            <a:r>
              <a:rPr lang="en-US" sz="264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Takes context of previous and upcoming words, to ensure correct sentiment analysis.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257" y="5150425"/>
            <a:ext cx="8901643" cy="191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134" indent="-286067" lvl="1">
              <a:lnSpc>
                <a:spcPts val="3709"/>
              </a:lnSpc>
              <a:buAutoNum type="arabicPeriod" startAt="1"/>
            </a:pPr>
            <a:r>
              <a:rPr lang="en-US" sz="264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Negation and Contrast handling</a:t>
            </a:r>
          </a:p>
          <a:p>
            <a:pPr algn="l" marL="572134" indent="-286067" lvl="1">
              <a:lnSpc>
                <a:spcPts val="3709"/>
              </a:lnSpc>
              <a:buFont typeface="Arial"/>
              <a:buChar char="•"/>
            </a:pPr>
            <a:r>
              <a:rPr lang="en-US" sz="264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Sentiment flip due to: not, don’t, didn’t</a:t>
            </a:r>
          </a:p>
          <a:p>
            <a:pPr algn="l" marL="572134" indent="-286067" lvl="1">
              <a:lnSpc>
                <a:spcPts val="3709"/>
              </a:lnSpc>
              <a:buFont typeface="Arial"/>
              <a:buChar char="•"/>
            </a:pPr>
            <a:r>
              <a:rPr lang="en-US" sz="264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Detect word: ‘but’; prevents sentiment mixing.</a:t>
            </a:r>
          </a:p>
          <a:p>
            <a:pPr algn="l">
              <a:lnSpc>
                <a:spcPts val="3709"/>
              </a:lnSpc>
            </a:pPr>
            <a:r>
              <a:rPr lang="en-US" sz="264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eg. Cooling good but noise high.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257" y="7121465"/>
            <a:ext cx="8901643" cy="98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134" indent="-286067" lvl="1">
              <a:lnSpc>
                <a:spcPts val="3709"/>
              </a:lnSpc>
              <a:buAutoNum type="arabicPeriod" startAt="1"/>
            </a:pPr>
            <a:r>
              <a:rPr lang="en-US" sz="264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Final ABSA output</a:t>
            </a:r>
          </a:p>
          <a:p>
            <a:pPr algn="l">
              <a:lnSpc>
                <a:spcPts val="3709"/>
              </a:lnSpc>
            </a:pPr>
            <a:r>
              <a:rPr lang="en-US" sz="264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Produces Aspect-wise sentiment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156300">
            <a:off x="12186685" y="-2133184"/>
            <a:ext cx="9373683" cy="10853738"/>
          </a:xfrm>
          <a:custGeom>
            <a:avLst/>
            <a:gdLst/>
            <a:ahLst/>
            <a:cxnLst/>
            <a:rect r="r" b="b" t="t" l="l"/>
            <a:pathLst>
              <a:path h="10853738" w="9373683">
                <a:moveTo>
                  <a:pt x="0" y="0"/>
                </a:moveTo>
                <a:lnTo>
                  <a:pt x="9373683" y="0"/>
                </a:lnTo>
                <a:lnTo>
                  <a:pt x="9373683" y="10853738"/>
                </a:lnTo>
                <a:lnTo>
                  <a:pt x="0" y="10853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89736">
            <a:off x="-2884107" y="7173059"/>
            <a:ext cx="7138119" cy="7138119"/>
          </a:xfrm>
          <a:custGeom>
            <a:avLst/>
            <a:gdLst/>
            <a:ahLst/>
            <a:cxnLst/>
            <a:rect r="r" b="b" t="t" l="l"/>
            <a:pathLst>
              <a:path h="7138119" w="7138119">
                <a:moveTo>
                  <a:pt x="0" y="0"/>
                </a:moveTo>
                <a:lnTo>
                  <a:pt x="7138119" y="0"/>
                </a:lnTo>
                <a:lnTo>
                  <a:pt x="7138119" y="7138120"/>
                </a:lnTo>
                <a:lnTo>
                  <a:pt x="0" y="7138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722786"/>
            <a:ext cx="6674703" cy="4338126"/>
          </a:xfrm>
          <a:custGeom>
            <a:avLst/>
            <a:gdLst/>
            <a:ahLst/>
            <a:cxnLst/>
            <a:rect r="r" b="b" t="t" l="l"/>
            <a:pathLst>
              <a:path h="4338126" w="6674703">
                <a:moveTo>
                  <a:pt x="0" y="0"/>
                </a:moveTo>
                <a:lnTo>
                  <a:pt x="6674703" y="0"/>
                </a:lnTo>
                <a:lnTo>
                  <a:pt x="6674703" y="4338126"/>
                </a:lnTo>
                <a:lnTo>
                  <a:pt x="0" y="4338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68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68675" y="5733091"/>
            <a:ext cx="7729690" cy="4327821"/>
          </a:xfrm>
          <a:custGeom>
            <a:avLst/>
            <a:gdLst/>
            <a:ahLst/>
            <a:cxnLst/>
            <a:rect r="r" b="b" t="t" l="l"/>
            <a:pathLst>
              <a:path h="4327821" w="7729690">
                <a:moveTo>
                  <a:pt x="0" y="0"/>
                </a:moveTo>
                <a:lnTo>
                  <a:pt x="7729690" y="0"/>
                </a:lnTo>
                <a:lnTo>
                  <a:pt x="7729690" y="4327821"/>
                </a:lnTo>
                <a:lnTo>
                  <a:pt x="0" y="43278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95445" y="6363416"/>
            <a:ext cx="730475" cy="730475"/>
          </a:xfrm>
          <a:custGeom>
            <a:avLst/>
            <a:gdLst/>
            <a:ahLst/>
            <a:cxnLst/>
            <a:rect r="r" b="b" t="t" l="l"/>
            <a:pathLst>
              <a:path h="730475" w="730475">
                <a:moveTo>
                  <a:pt x="0" y="0"/>
                </a:moveTo>
                <a:lnTo>
                  <a:pt x="730476" y="0"/>
                </a:lnTo>
                <a:lnTo>
                  <a:pt x="730476" y="730475"/>
                </a:lnTo>
                <a:lnTo>
                  <a:pt x="0" y="7304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1241441"/>
            <a:ext cx="11860683" cy="98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9"/>
              </a:lnSpc>
            </a:pPr>
            <a:r>
              <a:rPr lang="en-US" b="true" sz="2842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SECTION 2: CHATBOT ON NLP CONCEPTS AND AI APPLICATIONS</a:t>
            </a:r>
          </a:p>
          <a:p>
            <a:pPr algn="ctr">
              <a:lnSpc>
                <a:spcPts val="39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106998" y="409545"/>
            <a:ext cx="798705" cy="11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2"/>
              </a:lnSpc>
            </a:pPr>
            <a:r>
              <a:rPr lang="en-US" sz="628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6119" y="3435726"/>
            <a:ext cx="10572050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Step 2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: Hybrid Preprocessing: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1. Get Lemmas (e.g., 'better' →  'good') via </a:t>
            </a:r>
            <a:r>
              <a:rPr lang="en-US" sz="27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spaCy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2. Get Stems (e.g., 'segmentation' →  'segment') via </a:t>
            </a:r>
            <a:r>
              <a:rPr lang="en-US" sz="27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NLTK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16119" y="2108236"/>
            <a:ext cx="5118497" cy="53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Dataset : Intent Based Coolection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9568" y="2957231"/>
            <a:ext cx="8320802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1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ENGINEERING &amp; INTENT MAPPING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6119" y="4927131"/>
            <a:ext cx="10572050" cy="53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Step 3 </a:t>
            </a: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Data Prepration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71924" y="2935346"/>
            <a:ext cx="5413057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4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TF-IDF VECTORIZATION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96763" y="3473826"/>
            <a:ext cx="7101602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5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TRAIN MODEL (STRATIFIED SPLIT)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83803" y="6533298"/>
            <a:ext cx="553760" cy="305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  <a:spcBef>
                <a:spcPct val="0"/>
              </a:spcBef>
            </a:pPr>
            <a:r>
              <a:rPr lang="en-US" b="true" sz="1842">
                <a:solidFill>
                  <a:srgbClr val="000000"/>
                </a:solidFill>
                <a:latin typeface="Roca Two Bold"/>
                <a:ea typeface="Roca Two Bold"/>
                <a:cs typeface="Roca Two Bold"/>
                <a:sym typeface="Roca Two Bold"/>
              </a:rPr>
              <a:t>0.917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156300">
            <a:off x="12186685" y="-2133184"/>
            <a:ext cx="9373683" cy="10853738"/>
          </a:xfrm>
          <a:custGeom>
            <a:avLst/>
            <a:gdLst/>
            <a:ahLst/>
            <a:cxnLst/>
            <a:rect r="r" b="b" t="t" l="l"/>
            <a:pathLst>
              <a:path h="10853738" w="9373683">
                <a:moveTo>
                  <a:pt x="0" y="0"/>
                </a:moveTo>
                <a:lnTo>
                  <a:pt x="9373683" y="0"/>
                </a:lnTo>
                <a:lnTo>
                  <a:pt x="9373683" y="10853738"/>
                </a:lnTo>
                <a:lnTo>
                  <a:pt x="0" y="10853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89736">
            <a:off x="-2884107" y="7173059"/>
            <a:ext cx="7138119" cy="7138119"/>
          </a:xfrm>
          <a:custGeom>
            <a:avLst/>
            <a:gdLst/>
            <a:ahLst/>
            <a:cxnLst/>
            <a:rect r="r" b="b" t="t" l="l"/>
            <a:pathLst>
              <a:path h="7138119" w="7138119">
                <a:moveTo>
                  <a:pt x="0" y="0"/>
                </a:moveTo>
                <a:lnTo>
                  <a:pt x="7138119" y="0"/>
                </a:lnTo>
                <a:lnTo>
                  <a:pt x="7138119" y="7138120"/>
                </a:lnTo>
                <a:lnTo>
                  <a:pt x="0" y="7138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4475643"/>
            <a:ext cx="7230304" cy="5811357"/>
          </a:xfrm>
          <a:custGeom>
            <a:avLst/>
            <a:gdLst/>
            <a:ahLst/>
            <a:cxnLst/>
            <a:rect r="r" b="b" t="t" l="l"/>
            <a:pathLst>
              <a:path h="5811357" w="7230304">
                <a:moveTo>
                  <a:pt x="0" y="0"/>
                </a:moveTo>
                <a:lnTo>
                  <a:pt x="7230304" y="0"/>
                </a:lnTo>
                <a:lnTo>
                  <a:pt x="7230304" y="5811357"/>
                </a:lnTo>
                <a:lnTo>
                  <a:pt x="0" y="58113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1719700"/>
            <a:ext cx="7138164" cy="2462666"/>
          </a:xfrm>
          <a:custGeom>
            <a:avLst/>
            <a:gdLst/>
            <a:ahLst/>
            <a:cxnLst/>
            <a:rect r="r" b="b" t="t" l="l"/>
            <a:pathLst>
              <a:path h="2462666" w="7138164">
                <a:moveTo>
                  <a:pt x="0" y="0"/>
                </a:moveTo>
                <a:lnTo>
                  <a:pt x="7138164" y="0"/>
                </a:lnTo>
                <a:lnTo>
                  <a:pt x="7138164" y="2462667"/>
                </a:lnTo>
                <a:lnTo>
                  <a:pt x="0" y="24626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31045" y="2286804"/>
            <a:ext cx="3575663" cy="2646275"/>
          </a:xfrm>
          <a:custGeom>
            <a:avLst/>
            <a:gdLst/>
            <a:ahLst/>
            <a:cxnLst/>
            <a:rect r="r" b="b" t="t" l="l"/>
            <a:pathLst>
              <a:path h="2646275" w="3575663">
                <a:moveTo>
                  <a:pt x="0" y="0"/>
                </a:moveTo>
                <a:lnTo>
                  <a:pt x="3575663" y="0"/>
                </a:lnTo>
                <a:lnTo>
                  <a:pt x="3575663" y="2646275"/>
                </a:lnTo>
                <a:lnTo>
                  <a:pt x="0" y="26462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26202" b="-11339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4952" y="5504579"/>
            <a:ext cx="8021756" cy="4700341"/>
          </a:xfrm>
          <a:custGeom>
            <a:avLst/>
            <a:gdLst/>
            <a:ahLst/>
            <a:cxnLst/>
            <a:rect r="r" b="b" t="t" l="l"/>
            <a:pathLst>
              <a:path h="4700341" w="8021756">
                <a:moveTo>
                  <a:pt x="0" y="0"/>
                </a:moveTo>
                <a:lnTo>
                  <a:pt x="8021756" y="0"/>
                </a:lnTo>
                <a:lnTo>
                  <a:pt x="8021756" y="4700341"/>
                </a:lnTo>
                <a:lnTo>
                  <a:pt x="0" y="47003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1241441"/>
            <a:ext cx="3578010" cy="47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9"/>
              </a:lnSpc>
            </a:pPr>
            <a:r>
              <a:rPr lang="en-US" b="true" sz="2842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EVALUATION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84952" y="2286804"/>
            <a:ext cx="3906065" cy="2646275"/>
          </a:xfrm>
          <a:custGeom>
            <a:avLst/>
            <a:gdLst/>
            <a:ahLst/>
            <a:cxnLst/>
            <a:rect r="r" b="b" t="t" l="l"/>
            <a:pathLst>
              <a:path h="2646275" w="3906065">
                <a:moveTo>
                  <a:pt x="0" y="0"/>
                </a:moveTo>
                <a:lnTo>
                  <a:pt x="3906065" y="0"/>
                </a:lnTo>
                <a:lnTo>
                  <a:pt x="3906065" y="2646275"/>
                </a:lnTo>
                <a:lnTo>
                  <a:pt x="0" y="26462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84713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156300">
            <a:off x="12186685" y="-2133184"/>
            <a:ext cx="9373683" cy="10853738"/>
          </a:xfrm>
          <a:custGeom>
            <a:avLst/>
            <a:gdLst/>
            <a:ahLst/>
            <a:cxnLst/>
            <a:rect r="r" b="b" t="t" l="l"/>
            <a:pathLst>
              <a:path h="10853738" w="9373683">
                <a:moveTo>
                  <a:pt x="0" y="0"/>
                </a:moveTo>
                <a:lnTo>
                  <a:pt x="9373683" y="0"/>
                </a:lnTo>
                <a:lnTo>
                  <a:pt x="9373683" y="10853738"/>
                </a:lnTo>
                <a:lnTo>
                  <a:pt x="0" y="10853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89736">
            <a:off x="-2884107" y="7173059"/>
            <a:ext cx="7138119" cy="7138119"/>
          </a:xfrm>
          <a:custGeom>
            <a:avLst/>
            <a:gdLst/>
            <a:ahLst/>
            <a:cxnLst/>
            <a:rect r="r" b="b" t="t" l="l"/>
            <a:pathLst>
              <a:path h="7138119" w="7138119">
                <a:moveTo>
                  <a:pt x="0" y="0"/>
                </a:moveTo>
                <a:lnTo>
                  <a:pt x="7138119" y="0"/>
                </a:lnTo>
                <a:lnTo>
                  <a:pt x="7138119" y="7138120"/>
                </a:lnTo>
                <a:lnTo>
                  <a:pt x="0" y="7138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60647" y="1939138"/>
            <a:ext cx="4212880" cy="7961437"/>
          </a:xfrm>
          <a:custGeom>
            <a:avLst/>
            <a:gdLst/>
            <a:ahLst/>
            <a:cxnLst/>
            <a:rect r="r" b="b" t="t" l="l"/>
            <a:pathLst>
              <a:path h="7961437" w="4212880">
                <a:moveTo>
                  <a:pt x="0" y="0"/>
                </a:moveTo>
                <a:lnTo>
                  <a:pt x="4212879" y="0"/>
                </a:lnTo>
                <a:lnTo>
                  <a:pt x="4212879" y="7961437"/>
                </a:lnTo>
                <a:lnTo>
                  <a:pt x="0" y="79614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6119" y="2419198"/>
            <a:ext cx="11851890" cy="4130204"/>
          </a:xfrm>
          <a:custGeom>
            <a:avLst/>
            <a:gdLst/>
            <a:ahLst/>
            <a:cxnLst/>
            <a:rect r="r" b="b" t="t" l="l"/>
            <a:pathLst>
              <a:path h="4130204" w="11851890">
                <a:moveTo>
                  <a:pt x="0" y="0"/>
                </a:moveTo>
                <a:lnTo>
                  <a:pt x="11851891" y="0"/>
                </a:lnTo>
                <a:lnTo>
                  <a:pt x="11851891" y="4130205"/>
                </a:lnTo>
                <a:lnTo>
                  <a:pt x="0" y="41302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6119" y="1237168"/>
            <a:ext cx="14542953" cy="49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3"/>
              </a:lnSpc>
            </a:pPr>
            <a:r>
              <a:rPr lang="en-US" sz="2888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HYBRID CHATBOT AND ASPECT-BASED SENTIMENT ANALYSIS ARCHITECTURE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6119" y="1630528"/>
            <a:ext cx="8516303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Conversational AI and Opinion Mining for Product Reviews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884251" y="-770733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8" y="0"/>
                </a:lnTo>
                <a:lnTo>
                  <a:pt x="10750098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66769" y="2636465"/>
            <a:ext cx="8057381" cy="179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39"/>
              </a:lnSpc>
            </a:pPr>
            <a:r>
              <a:rPr lang="en-US" b="true" sz="10528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74370" y="4449073"/>
            <a:ext cx="6139260" cy="314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50"/>
              </a:lnSpc>
            </a:pPr>
            <a:r>
              <a:rPr lang="en-US" sz="9036" b="true">
                <a:solidFill>
                  <a:srgbClr val="000000"/>
                </a:solidFill>
                <a:latin typeface="Beautifully Delicious Script Bold"/>
                <a:ea typeface="Beautifully Delicious Script Bold"/>
                <a:cs typeface="Beautifully Delicious Script Bold"/>
                <a:sym typeface="Beautifully Delicious Script Bold"/>
              </a:rPr>
              <a:t>Anwesha &amp; Oshika !!</a:t>
            </a:r>
          </a:p>
          <a:p>
            <a:pPr algn="ctr">
              <a:lnSpc>
                <a:spcPts val="12650"/>
              </a:lnSpc>
            </a:pPr>
            <a:r>
              <a:rPr lang="en-US" sz="9036" b="true">
                <a:solidFill>
                  <a:srgbClr val="000000"/>
                </a:solidFill>
                <a:latin typeface="Beautifully Delicious Script Bold"/>
                <a:ea typeface="Beautifully Delicious Script Bold"/>
                <a:cs typeface="Beautifully Delicious Script Bold"/>
                <a:sym typeface="Beautifully Delicious Script Bold"/>
              </a:rPr>
              <a:t>we did a lot of efforts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DAHEzGT9gEU</dc:identifier>
  <dcterms:modified xsi:type="dcterms:W3CDTF">2011-08-01T06:04:30Z</dcterms:modified>
  <cp:revision>1</cp:revision>
  <dc:title>natural-language-processing-assignment</dc:title>
</cp:coreProperties>
</file>